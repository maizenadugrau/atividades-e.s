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779E07-920A-4489-B008-871776AAB1B5}">
  <a:tblStyle styleId="{1F779E07-920A-4489-B008-871776AAB1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11" Type="http://schemas.openxmlformats.org/officeDocument/2006/relationships/image" Target="../media/image3.png"/><Relationship Id="rId10" Type="http://schemas.openxmlformats.org/officeDocument/2006/relationships/image" Target="../media/image1.png"/><Relationship Id="rId12" Type="http://schemas.openxmlformats.org/officeDocument/2006/relationships/image" Target="../media/image10.png"/><Relationship Id="rId9" Type="http://schemas.openxmlformats.org/officeDocument/2006/relationships/image" Target="../media/image30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11" Type="http://schemas.openxmlformats.org/officeDocument/2006/relationships/image" Target="../media/image17.png"/><Relationship Id="rId10" Type="http://schemas.openxmlformats.org/officeDocument/2006/relationships/image" Target="../media/image20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21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26.png"/><Relationship Id="rId13" Type="http://schemas.openxmlformats.org/officeDocument/2006/relationships/image" Target="../media/image43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image" Target="../media/image39.png"/><Relationship Id="rId15" Type="http://schemas.openxmlformats.org/officeDocument/2006/relationships/image" Target="../media/image37.png"/><Relationship Id="rId14" Type="http://schemas.openxmlformats.org/officeDocument/2006/relationships/image" Target="../media/image32.png"/><Relationship Id="rId16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49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45.png"/><Relationship Id="rId9" Type="http://schemas.openxmlformats.org/officeDocument/2006/relationships/image" Target="../media/image44.png"/><Relationship Id="rId5" Type="http://schemas.openxmlformats.org/officeDocument/2006/relationships/image" Target="../media/image36.png"/><Relationship Id="rId6" Type="http://schemas.openxmlformats.org/officeDocument/2006/relationships/image" Target="../media/image34.png"/><Relationship Id="rId7" Type="http://schemas.openxmlformats.org/officeDocument/2006/relationships/image" Target="../media/image42.png"/><Relationship Id="rId8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47.png"/><Relationship Id="rId7" Type="http://schemas.openxmlformats.org/officeDocument/2006/relationships/image" Target="../media/image51.png"/><Relationship Id="rId8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3204120"/>
            <a:ext cx="3657600" cy="317554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75347" y="478333"/>
            <a:ext cx="1044130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Projeto A3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Sistemas Automatizados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23950" y="2009775"/>
            <a:ext cx="99441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Controle de Nível de Água com CLP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23950" y="2453580"/>
            <a:ext cx="9944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Universidade São Judas Tadeu - Engenharia de Software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467225" y="3404145"/>
            <a:ext cx="3257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Orientador: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Prof. Robson Calvetti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467225" y="3758429"/>
            <a:ext cx="32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Rafael Alves de Oliveira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467225" y="4110854"/>
            <a:ext cx="32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Sabrina Azevedo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467225" y="4463279"/>
            <a:ext cx="32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Maida Alejandra Chaparro I.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467225" y="4815704"/>
            <a:ext cx="32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Bernardo Simonet Oliveira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467225" y="5168129"/>
            <a:ext cx="32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Victor Costa de Oliveira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467225" y="5520554"/>
            <a:ext cx="3257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Pietro Augusto de Carvalho Martins</a:t>
            </a:r>
            <a:endParaRPr b="0" i="0" sz="15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André Marques Ferreira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555069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Introdução &amp; Objetivos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19621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Automação na Indústria 4.0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242887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controle de nível de líquidos é uma aplicação crítica em setores como indústrias químicas e estações de tratamento. O uso de CLPs permite monitoramento preciso e seguro.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37909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Este projeto visa desenvolver um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sistema automatizado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operando em modos manual e automático, utilizando linguagem Ladder.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48482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Foco principal na implementação de mecanismos de segurança: controle de nível crítico, proteção anti-cavitação e prevenção de oscilações (flicker).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3062"/>
            <a:ext cx="3492549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43062"/>
            <a:ext cx="3492549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43062"/>
            <a:ext cx="3492549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938337"/>
            <a:ext cx="66675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66775" y="2881312"/>
            <a:ext cx="3047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Controlador Lógico (CLP)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3671887"/>
            <a:ext cx="290199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Atua como o cérebro computacional. Opera em um ciclo de varredura (scan cycle): leitura das entradas, processamento da lógica, e atualização das saídas (atuadores).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1938337"/>
            <a:ext cx="71437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645074" y="2881312"/>
            <a:ext cx="24803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Linguagem Ladder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45074" y="3348037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Norma IEC 61131-3. Representação gráfica intuitiva similar a relés. Utiliza contatos (NA/NF), temporizadores (TON/TOF) para debounce, e contadores para manutenção.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1938337"/>
            <a:ext cx="66675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423374" y="2881312"/>
            <a:ext cx="247030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Conceito Fail-Safe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23374" y="3348037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 sistemas ciberfísicos, o software interage com o físico. O sistema deve assumir o estado de menor risco em caso de falha (ex: desligar bombas em transbordamento).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119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87949" y="21193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66249" y="21193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Fundamentação Teórica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335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57250" y="13335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Modos de Operação: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Controle manual para testes/contingências e automático regido pelo CLP.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21336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Proteção de Atuadores: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Sensor de fluxo evita cavitação e queima do motor da bomba por operação a seco.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32385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Debounce (Anti-Oscilação):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Temporizadores retardam acionamentos, filtrando turbulências no fluido e evitando picos de corrente.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43434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Manutenção Preditiva: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Contagem interna de ciclos (CTU) de cada bomba para programar manutenções antes da falha.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54483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Gestão de Crises: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Intertravamento crítico para bloquear o sistema antes do transbordamento iminente.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3430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1333500"/>
            <a:ext cx="104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2133600"/>
            <a:ext cx="104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3238500"/>
            <a:ext cx="104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4343400"/>
            <a:ext cx="104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5448300"/>
            <a:ext cx="104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3048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Diferenciais do Sistema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9334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503"/>
            <a:ext cx="11049000" cy="487784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17"/>
          <p:cNvGraphicFramePr/>
          <p:nvPr/>
        </p:nvGraphicFramePr>
        <p:xfrm>
          <a:off x="676275" y="16092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{1F779E07-920A-4489-B008-871776AAB1B5}</a:tableStyleId>
              </a:tblPr>
              <a:tblGrid>
                <a:gridCol w="1675350"/>
                <a:gridCol w="3168550"/>
                <a:gridCol w="5995550"/>
              </a:tblGrid>
              <a:tr h="58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Endereço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Tag (BOOL)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Descrição Funcional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</a:tr>
              <a:tr h="58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Sensor_Nivel_Baixo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Detecta se o tanque atingiu a cota mínima.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27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</a:tr>
              <a:tr h="58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Sensor_Nivel_Alto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Detecta se o tanque atingiu a cota de trabalho máxima.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</a:tr>
              <a:tr h="58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Sensor_Nivel_Critico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Sensor de emergência (overflow). Deve permanecer inativo.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</a:tr>
              <a:tr h="58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Sensor_Fluxo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Confirma a presença física de água na tubulação.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</a:tr>
              <a:tr h="58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Chave_Sistema_OK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Chave geral de habilitação do sistema.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</a:tr>
              <a:tr h="58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Btn_Bomba (Encher/Esvaziar)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Comandos de operação manual para as bombas.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</a:tr>
              <a:tr h="58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Btn_Reset_Alarme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Botão para limpar a memória de falha crítica.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39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7"/>
          <p:cNvSpPr/>
          <p:nvPr/>
        </p:nvSpPr>
        <p:spPr>
          <a:xfrm>
            <a:off x="676275" y="2178843"/>
            <a:ext cx="1675358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351633" y="2178843"/>
            <a:ext cx="31685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520183" y="2178843"/>
            <a:ext cx="5995541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76275" y="2775942"/>
            <a:ext cx="16753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351633" y="2775942"/>
            <a:ext cx="3168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520183" y="2775942"/>
            <a:ext cx="59955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76275" y="3358753"/>
            <a:ext cx="16753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351633" y="3358753"/>
            <a:ext cx="3168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520183" y="3358753"/>
            <a:ext cx="59955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76275" y="3941564"/>
            <a:ext cx="16753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351633" y="3941564"/>
            <a:ext cx="3168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520183" y="3941564"/>
            <a:ext cx="59955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76275" y="4524375"/>
            <a:ext cx="16753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351633" y="4524375"/>
            <a:ext cx="3168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520183" y="4524375"/>
            <a:ext cx="59955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76275" y="5107185"/>
            <a:ext cx="16753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351633" y="5107185"/>
            <a:ext cx="3168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520183" y="5107185"/>
            <a:ext cx="59955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76275" y="5689996"/>
            <a:ext cx="16753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2351633" y="5689996"/>
            <a:ext cx="3168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520183" y="5689996"/>
            <a:ext cx="59955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340768"/>
            <a:ext cx="3429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923579"/>
            <a:ext cx="3429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506390"/>
            <a:ext cx="3429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089201"/>
            <a:ext cx="3429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4672012"/>
            <a:ext cx="3429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5254823"/>
            <a:ext cx="8191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775" y="5837634"/>
            <a:ext cx="3429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571500" y="475803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Modelagem: Mapa de Entradas (Inputs)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500" y="1104453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5412"/>
            <a:ext cx="5286375" cy="509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95412"/>
            <a:ext cx="5286375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962025" y="178593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Saídas Físicas (Coils)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962025" y="2300275"/>
            <a:ext cx="4785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Bomba_Enchimento: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Aciona motor de entrada.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	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Bomba_Esvaziamento: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Aciona motor de drenagem.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	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LED_Alarme: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Alerta visual de estado crítico.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		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LED_Vazio / LED_Cheio: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Indicadores de cota operacional.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LED_SysOK: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Sistema energizado sem falhas.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724650" y="178593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Memórias e Blocos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724650" y="2300287"/>
            <a:ext cx="45054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Mem_Alarme: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Retenção do estado de emergência.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		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Mem_Auto: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Sinaliza ciclos automáticos (Encher/Esvaziar).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		  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Retardo On/Off nas bombas para mitigar oscilações mecânicas.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	 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Contadores: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Registro de desgaste mecânico (contagem de manobras para Q0/Q1).</a:t>
            </a:r>
            <a:endParaRPr/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81451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338387"/>
            <a:ext cx="3429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705100"/>
            <a:ext cx="3429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3652850"/>
            <a:ext cx="3429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2025" y="4111075"/>
            <a:ext cx="8191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2025" y="5081587"/>
            <a:ext cx="3429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24650" y="181451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724650" y="2300287"/>
            <a:ext cx="3429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724650" y="3292475"/>
            <a:ext cx="8191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24650" y="4246562"/>
            <a:ext cx="10096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77025" y="5240337"/>
            <a:ext cx="4381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571500" y="366712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Modelagem: Saídas e Variáveis Especiais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571500" y="995362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/>
          <p:nvPr/>
        </p:nvSpPr>
        <p:spPr>
          <a:xfrm>
            <a:off x="1333500" y="7099696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9"/>
          <p:cNvGrpSpPr/>
          <p:nvPr/>
        </p:nvGrpSpPr>
        <p:grpSpPr>
          <a:xfrm>
            <a:off x="1333500" y="1195476"/>
            <a:ext cx="8796600" cy="1132500"/>
            <a:chOff x="1333500" y="586976"/>
            <a:chExt cx="8796600" cy="1132500"/>
          </a:xfrm>
        </p:grpSpPr>
        <p:sp>
          <p:nvSpPr>
            <p:cNvPr id="216" name="Google Shape;216;p19"/>
            <p:cNvSpPr/>
            <p:nvPr/>
          </p:nvSpPr>
          <p:spPr>
            <a:xfrm>
              <a:off x="1333500" y="586976"/>
              <a:ext cx="8796600" cy="1132500"/>
            </a:xfrm>
            <a:prstGeom prst="roundRect">
              <a:avLst>
                <a:gd fmla="val 5122" name="adj"/>
              </a:avLst>
            </a:prstGeom>
            <a:solidFill>
              <a:srgbClr val="1E293B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2000250" y="679338"/>
              <a:ext cx="76833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1. Sinalização e Status Lógico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LEDs de estado baseados em combinações booleanas. O Sistema OK exige a chave geral e a ausência de intervenção de Reset (Rungs 1-3).</a:t>
              </a:r>
              <a:endParaRPr/>
            </a:p>
          </p:txBody>
        </p:sp>
        <p:pic>
          <p:nvPicPr>
            <p:cNvPr descr="image.png" id="218" name="Google Shape;21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33525" y="829865"/>
              <a:ext cx="200025" cy="276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p19"/>
          <p:cNvGrpSpPr/>
          <p:nvPr/>
        </p:nvGrpSpPr>
        <p:grpSpPr>
          <a:xfrm>
            <a:off x="1333500" y="2569423"/>
            <a:ext cx="8796600" cy="1249500"/>
            <a:chOff x="1333500" y="2265173"/>
            <a:chExt cx="8796600" cy="1249500"/>
          </a:xfrm>
        </p:grpSpPr>
        <p:sp>
          <p:nvSpPr>
            <p:cNvPr id="220" name="Google Shape;220;p19"/>
            <p:cNvSpPr/>
            <p:nvPr/>
          </p:nvSpPr>
          <p:spPr>
            <a:xfrm>
              <a:off x="1333500" y="2265173"/>
              <a:ext cx="8796600" cy="1249500"/>
            </a:xfrm>
            <a:prstGeom prst="roundRect">
              <a:avLst>
                <a:gd fmla="val 5122" name="adj"/>
              </a:avLst>
            </a:prstGeom>
            <a:solidFill>
              <a:srgbClr val="1E293B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1924650" y="2430400"/>
              <a:ext cx="76143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2. Controle de Bombas com Debounce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Acionamento protegido por intertravamento cruzado (Q0 só liga se Q1 estiver desligada). Sinais passam por TON/TOF antes de energizar e ativam contadores (Rungs 4-5).</a:t>
              </a:r>
              <a:endParaRPr/>
            </a:p>
          </p:txBody>
        </p:sp>
        <p:pic>
          <p:nvPicPr>
            <p:cNvPr descr="image.png" id="222" name="Google Shape;22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33525" y="2508051"/>
              <a:ext cx="333375" cy="276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3" name="Google Shape;223;p19"/>
          <p:cNvGrpSpPr/>
          <p:nvPr/>
        </p:nvGrpSpPr>
        <p:grpSpPr>
          <a:xfrm>
            <a:off x="1333500" y="4060363"/>
            <a:ext cx="8796600" cy="1319700"/>
            <a:chOff x="1333500" y="3943350"/>
            <a:chExt cx="8796600" cy="1319700"/>
          </a:xfrm>
        </p:grpSpPr>
        <p:sp>
          <p:nvSpPr>
            <p:cNvPr id="224" name="Google Shape;224;p19"/>
            <p:cNvSpPr/>
            <p:nvPr/>
          </p:nvSpPr>
          <p:spPr>
            <a:xfrm>
              <a:off x="1333500" y="3943350"/>
              <a:ext cx="8796600" cy="1319700"/>
            </a:xfrm>
            <a:prstGeom prst="roundRect">
              <a:avLst>
                <a:gd fmla="val 5122" name="adj"/>
              </a:avLst>
            </a:prstGeom>
            <a:solidFill>
              <a:srgbClr val="1E293B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2000250" y="4145025"/>
              <a:ext cx="76833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3. Gestão de Ciclo Automático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Memórias M3/M4 orquestram o ciclo. Exemplo: Enchimento ativado por nível baixo (I0), sem alarme crítico, garantindo autonomia segura (Rungs 6-7).</a:t>
              </a:r>
              <a:endParaRPr/>
            </a:p>
          </p:txBody>
        </p:sp>
        <p:pic>
          <p:nvPicPr>
            <p:cNvPr descr="image.png" id="226" name="Google Shape;226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33525" y="4186237"/>
              <a:ext cx="333375" cy="276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" name="Google Shape;227;p19"/>
          <p:cNvGrpSpPr/>
          <p:nvPr/>
        </p:nvGrpSpPr>
        <p:grpSpPr>
          <a:xfrm>
            <a:off x="1333500" y="5621528"/>
            <a:ext cx="8796600" cy="1132500"/>
            <a:chOff x="1333500" y="5621528"/>
            <a:chExt cx="8796600" cy="1132500"/>
          </a:xfrm>
        </p:grpSpPr>
        <p:sp>
          <p:nvSpPr>
            <p:cNvPr id="228" name="Google Shape;228;p19"/>
            <p:cNvSpPr/>
            <p:nvPr/>
          </p:nvSpPr>
          <p:spPr>
            <a:xfrm>
              <a:off x="1333500" y="5621528"/>
              <a:ext cx="8796600" cy="1132500"/>
            </a:xfrm>
            <a:prstGeom prst="roundRect">
              <a:avLst>
                <a:gd fmla="val 5122" name="adj"/>
              </a:avLst>
            </a:prstGeom>
            <a:solidFill>
              <a:srgbClr val="1E293B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2000250" y="5859650"/>
              <a:ext cx="76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4. Alarme e Emergência de Software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Bloqueio total se houver perda de fluxo (I3) ou detecção de nível crítico (I2). Exige reset físico (I7) para rearmar (Rungs 8-9).</a:t>
              </a:r>
              <a:endParaRPr/>
            </a:p>
          </p:txBody>
        </p:sp>
        <p:pic>
          <p:nvPicPr>
            <p:cNvPr descr="image.png" id="230" name="Google Shape;230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33525" y="5864423"/>
              <a:ext cx="266700" cy="276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19"/>
          <p:cNvSpPr txBox="1"/>
          <p:nvPr/>
        </p:nvSpPr>
        <p:spPr>
          <a:xfrm>
            <a:off x="590550" y="242454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Lógica de Controle em Diagrama Ladder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90550" y="871103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2764"/>
            <a:ext cx="3492549" cy="3661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2764"/>
            <a:ext cx="3492549" cy="3661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2764"/>
            <a:ext cx="3492549" cy="3661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312789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2312789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2312789"/>
            <a:ext cx="3092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771525" y="4408289"/>
            <a:ext cx="30924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Sinalização e Fluxo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771525" y="4699694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Comprovação visual da passagem de energia pelas linhas de condição (Tanque Cheio).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4549824" y="4408289"/>
            <a:ext cx="30924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Intertravamento Físico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4549824" y="4699694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Contatos NF opostos garantem que apenas uma bomba opere, evitando curtos hidráulicos.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8328124" y="4408289"/>
            <a:ext cx="30924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Filtro de Oscilação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328124" y="4699694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Blocos TON/TOF introduzem atraso intencional estabilizando leituras de sensores ruidosos.</a:t>
            </a:r>
            <a:endParaRPr/>
          </a:p>
        </p:txBody>
      </p:sp>
      <p:pic>
        <p:nvPicPr>
          <p:cNvPr descr="image.png" id="250" name="Google Shape;25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2312789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49824" y="2312789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28124" y="2312789"/>
            <a:ext cx="3092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Validação e Simulação (PLC Fiddle)</a:t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5087"/>
            <a:ext cx="5286375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962025" y="2995612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4.0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962025" y="4614862"/>
            <a:ext cx="45053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Pilares da Indústria Moderna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334125" y="21240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Além do Chaveamento On/Off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334125" y="259080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sistema transcende o controle básico. Na Engenharia de Software focada em CPS (Sistemas Ciberfísicos),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coleta primária de dados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 borda (Edge Computing) é vital.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334125" y="39528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uso de contadores CTU fornece telemetria base para algoritmos de manutenção preditiva corporativos.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334125" y="47053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Ademais, a priorização da segurança (fail-safe) sobre comandos manuais blinda as instalações contra falhas humanas catastróficas.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Discussão dos Resultados</a:t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/>
          <p:nvPr/>
        </p:nvSpPr>
        <p:spPr>
          <a:xfrm>
            <a:off x="5524500" y="2207121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4430791" y="2645271"/>
            <a:ext cx="333041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Conclusão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2286000" y="3569196"/>
            <a:ext cx="76200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solução projetada é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madura e profissional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cumprindo todos os requisitos arquiteturais para sistemas ciberfísicos. O uso do simulador PLC Fiddle validou a eficácia dos intertravamentos, do tratamento de debounce por timers e das salvaguardas rigorosas contra falhas.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295275" y="2279302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Perguntas?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71500" y="339372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Obrigado pela atenção à nossa apresentação.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4330898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Universidade São Judas Tadeu | Engenharia de Software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/>
          <p:nvPr/>
        </p:nvSpPr>
        <p:spPr>
          <a:xfrm>
            <a:off x="2286000" y="1986111"/>
            <a:ext cx="7620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2286000" y="2770882"/>
            <a:ext cx="7620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2286000" y="3555652"/>
            <a:ext cx="7620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2286000" y="4340423"/>
            <a:ext cx="7620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2286000" y="2761357"/>
            <a:ext cx="762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2286000" y="2761357"/>
            <a:ext cx="762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2286000" y="3546127"/>
            <a:ext cx="762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2286000" y="3546127"/>
            <a:ext cx="762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2286000" y="4330898"/>
            <a:ext cx="762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2286000" y="4330898"/>
            <a:ext cx="762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2286000" y="5115669"/>
            <a:ext cx="762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2286000" y="5115669"/>
            <a:ext cx="762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2" name="Google Shape;30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1355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3381375" y="2128986"/>
            <a:ext cx="6524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https://i.ytimg.com/vi/qQoHQ0b-d1U/maxresdefault.jpg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3381375" y="2374701"/>
            <a:ext cx="6524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www.youtube.com</a:t>
            </a:r>
            <a:endParaRPr/>
          </a:p>
        </p:txBody>
      </p:sp>
      <p:pic>
        <p:nvPicPr>
          <p:cNvPr descr="image.png" id="305" name="Google Shape;30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29203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4"/>
          <p:cNvSpPr txBox="1"/>
          <p:nvPr/>
        </p:nvSpPr>
        <p:spPr>
          <a:xfrm>
            <a:off x="3381375" y="2913757"/>
            <a:ext cx="6524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https://www.unicornglobalautomations.com/wp-content/uploads/2025/01/Best-Practices-of-PLC-Wiring.webp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3381375" y="3159472"/>
            <a:ext cx="6524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www.unicornglobalautomations.com</a:t>
            </a:r>
            <a:endParaRPr/>
          </a:p>
        </p:txBody>
      </p:sp>
      <p:pic>
        <p:nvPicPr>
          <p:cNvPr descr="image.png" id="308" name="Google Shape;30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0" y="37050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3381375" y="3698527"/>
            <a:ext cx="6524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https://ladderlogicworld.com/wp-content/uploads/2020/10/10_PLC-programming-simulator_FeatureImage.jpg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3381375" y="3944242"/>
            <a:ext cx="6524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ladderlogicworld.com</a:t>
            </a:r>
            <a:endParaRPr/>
          </a:p>
        </p:txBody>
      </p:sp>
      <p:pic>
        <p:nvPicPr>
          <p:cNvPr descr="image.png" id="311" name="Google Shape;31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86000" y="44898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3381375" y="4483298"/>
            <a:ext cx="6524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https://www.danfoss.com/media/ymunrdha/pump-interlock-in-booster-pump-controller_1120x747.png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3381375" y="4729013"/>
            <a:ext cx="6524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www.danfoss.com</a:t>
            </a:r>
            <a:endParaRPr/>
          </a:p>
        </p:txBody>
      </p:sp>
      <p:pic>
        <p:nvPicPr>
          <p:cNvPr descr="image.png" id="314" name="Google Shape;31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86000" y="52746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 txBox="1"/>
          <p:nvPr/>
        </p:nvSpPr>
        <p:spPr>
          <a:xfrm>
            <a:off x="3381375" y="5268069"/>
            <a:ext cx="6524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https://i.ytimg.com/vi/xf6bsaSt4SY/maxresdefault.jpg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3381375" y="5513784"/>
            <a:ext cx="6524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www.youtube.com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